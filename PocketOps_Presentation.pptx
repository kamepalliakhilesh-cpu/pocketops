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0292" cy="27432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80160" y="2011680"/>
            <a:ext cx="731520" cy="73152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64592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PocketOps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651760"/>
            <a:ext cx="8229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2D3EE"/>
                </a:solidFill>
                <a:latin typeface="Segoe UI"/>
              </a:rPr>
              <a:t>When One Device Fails, Your Work Should Never Have to Stop.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3832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A Phone-First Continuity Workspace for Your Digital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10332720" cy="86868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5166360"/>
            <a:ext cx="9601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iQOO Hackathon  •  Grand Finale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48640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914D"/>
                </a:solidFill>
                <a:latin typeface="Segoe UI"/>
              </a:rPr>
              <a:t>Interactive Functional Prototype &amp; System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dirty="0">
                <a:solidFill>
                  <a:srgbClr val="FFFFFF"/>
                </a:solidFill>
                <a:latin typeface="Segoe UI"/>
              </a:rPr>
              <a:t>When Your Primary Device Becomes Unavailable,
Your Work Stops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43480"/>
            <a:ext cx="5303520" cy="146304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697480"/>
            <a:ext cx="502920" cy="50292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Emoji"/>
              </a:rPr>
              <a:t>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6032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DEVICE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71800"/>
            <a:ext cx="4114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Battery drain, crashes, overheating or unexpected shutdown.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9200" y="2499360"/>
            <a:ext cx="5303520" cy="146304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537960" y="2697480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Emoji"/>
              </a:rPr>
              <a:t>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56032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LOST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971800"/>
            <a:ext cx="4114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Files, edits and ongoing work remain tied to the unavailable device.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303520" cy="146304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44348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29768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CONNECTIVITY DEPENDENCY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09160"/>
            <a:ext cx="4114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Many workflows assume the primary device or network remains available.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5303520" cy="146304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537960" y="4434840"/>
            <a:ext cx="502920" cy="50292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Emoji"/>
              </a:rPr>
              <a:t>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29768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NO CONTINUITY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709160"/>
            <a:ext cx="4114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Existing tools provide access, syncing or mirroring, but don’t preserve the complete work context for offline continuation.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035040"/>
            <a:ext cx="10789920" cy="54864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914D"/>
                </a:solidFill>
                <a:latin typeface="Segoe UI"/>
              </a:rPr>
              <a:t>The problem isn’t just losing the device. It’s losing the ability to continue the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D700"/>
                </a:solidFill>
                <a:latin typeface="Segoe UI"/>
              </a:rPr>
              <a:t>EXISTING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Why Existing Solutions Aren’t Enough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331720" cy="621792"/>
          </a:xfrm>
          <a:prstGeom prst="roundRect">
            <a:avLst>
              <a:gd name="adj" fmla="val 2000"/>
            </a:avLst>
          </a:prstGeom>
          <a:solidFill>
            <a:srgbClr val="141928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0574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2011680"/>
            <a:ext cx="2880360" cy="621792"/>
          </a:xfrm>
          <a:prstGeom prst="roundRect">
            <a:avLst>
              <a:gd name="adj" fmla="val 2000"/>
            </a:avLst>
          </a:prstGeom>
          <a:solidFill>
            <a:srgbClr val="141928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46120" y="2148840"/>
            <a:ext cx="26060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Solves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011680"/>
            <a:ext cx="5440680" cy="621792"/>
          </a:xfrm>
          <a:prstGeom prst="roundRect">
            <a:avLst>
              <a:gd name="adj" fmla="val 2000"/>
            </a:avLst>
          </a:prstGeom>
          <a:solidFill>
            <a:srgbClr val="141928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0" y="2148840"/>
            <a:ext cx="51663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Remaining 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70048"/>
            <a:ext cx="2331720" cy="621792"/>
          </a:xfrm>
          <a:prstGeom prst="roundRect">
            <a:avLst>
              <a:gd name="adj" fmla="val 2000"/>
            </a:avLst>
          </a:prstGeom>
          <a:solidFill>
            <a:srgbClr val="121626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807208"/>
            <a:ext cx="20574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Cloud Storage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2670048"/>
            <a:ext cx="2880360" cy="621792"/>
          </a:xfrm>
          <a:prstGeom prst="roundRect">
            <a:avLst>
              <a:gd name="adj" fmla="val 2000"/>
            </a:avLst>
          </a:prstGeom>
          <a:solidFill>
            <a:srgbClr val="121626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2807208"/>
            <a:ext cx="26060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File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2670048"/>
            <a:ext cx="5440680" cy="621792"/>
          </a:xfrm>
          <a:prstGeom prst="roundRect">
            <a:avLst>
              <a:gd name="adj" fmla="val 2000"/>
            </a:avLst>
          </a:prstGeom>
          <a:solidFill>
            <a:srgbClr val="121626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2807208"/>
            <a:ext cx="51663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Doesn’t preserve active work 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28416"/>
            <a:ext cx="2331720" cy="621792"/>
          </a:xfrm>
          <a:prstGeom prst="roundRect">
            <a:avLst>
              <a:gd name="adj" fmla="val 2000"/>
            </a:avLst>
          </a:prstGeom>
          <a:solidFill>
            <a:srgbClr val="0E111D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65576"/>
            <a:ext cx="20574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Phone–PC Linking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328416"/>
            <a:ext cx="2880360" cy="621792"/>
          </a:xfrm>
          <a:prstGeom prst="roundRect">
            <a:avLst>
              <a:gd name="adj" fmla="val 2000"/>
            </a:avLst>
          </a:prstGeom>
          <a:solidFill>
            <a:srgbClr val="0E111D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46120" y="3465576"/>
            <a:ext cx="26060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Device access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0" y="3328416"/>
            <a:ext cx="5440680" cy="621792"/>
          </a:xfrm>
          <a:prstGeom prst="roundRect">
            <a:avLst>
              <a:gd name="adj" fmla="val 2000"/>
            </a:avLst>
          </a:prstGeom>
          <a:solidFill>
            <a:srgbClr val="0E111D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3465576"/>
            <a:ext cx="51663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Primary device is still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986784"/>
            <a:ext cx="2331720" cy="621792"/>
          </a:xfrm>
          <a:prstGeom prst="roundRect">
            <a:avLst>
              <a:gd name="adj" fmla="val 2000"/>
            </a:avLst>
          </a:prstGeom>
          <a:solidFill>
            <a:srgbClr val="121626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23944"/>
            <a:ext cx="20574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Remote Desktop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08960" y="3986784"/>
            <a:ext cx="2880360" cy="621792"/>
          </a:xfrm>
          <a:prstGeom prst="roundRect">
            <a:avLst>
              <a:gd name="adj" fmla="val 2000"/>
            </a:avLst>
          </a:prstGeom>
          <a:solidFill>
            <a:srgbClr val="121626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46120" y="4123944"/>
            <a:ext cx="26060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Remote control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3986784"/>
            <a:ext cx="5440680" cy="621792"/>
          </a:xfrm>
          <a:prstGeom prst="roundRect">
            <a:avLst>
              <a:gd name="adj" fmla="val 2000"/>
            </a:avLst>
          </a:prstGeom>
          <a:solidFill>
            <a:srgbClr val="121626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72200" y="4123944"/>
            <a:ext cx="51663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Depends on host + connectivity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645152"/>
            <a:ext cx="2331720" cy="621792"/>
          </a:xfrm>
          <a:prstGeom prst="roundRect">
            <a:avLst>
              <a:gd name="adj" fmla="val 2000"/>
            </a:avLst>
          </a:prstGeom>
          <a:solidFill>
            <a:srgbClr val="0E111D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4782312"/>
            <a:ext cx="20574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Cloud Development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08960" y="4645152"/>
            <a:ext cx="2880360" cy="621792"/>
          </a:xfrm>
          <a:prstGeom prst="roundRect">
            <a:avLst>
              <a:gd name="adj" fmla="val 2000"/>
            </a:avLst>
          </a:prstGeom>
          <a:solidFill>
            <a:srgbClr val="0E111D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46120" y="4782312"/>
            <a:ext cx="26060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Remote development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4645152"/>
            <a:ext cx="5440680" cy="621792"/>
          </a:xfrm>
          <a:prstGeom prst="roundRect">
            <a:avLst>
              <a:gd name="adj" fmla="val 2000"/>
            </a:avLst>
          </a:prstGeom>
          <a:solidFill>
            <a:srgbClr val="0E111D"/>
          </a:solidFill>
          <a:ln w="63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72200" y="4782312"/>
            <a:ext cx="51663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Connectivity / cloud dependency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5303520"/>
            <a:ext cx="2331720" cy="621792"/>
          </a:xfrm>
          <a:prstGeom prst="roundRect">
            <a:avLst>
              <a:gd name="adj" fmla="val 2000"/>
            </a:avLst>
          </a:prstGeom>
          <a:solidFill>
            <a:srgbClr val="101A18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440680"/>
            <a:ext cx="20574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5500"/>
                </a:solidFill>
                <a:latin typeface="Segoe UI"/>
              </a:rPr>
              <a:t>⚡ PocketOps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08960" y="5303520"/>
            <a:ext cx="2880360" cy="621792"/>
          </a:xfrm>
          <a:prstGeom prst="roundRect">
            <a:avLst>
              <a:gd name="adj" fmla="val 2000"/>
            </a:avLst>
          </a:prstGeom>
          <a:solidFill>
            <a:srgbClr val="101A18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46120" y="5440680"/>
            <a:ext cx="26060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</a:rPr>
              <a:t>Work continuity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0" y="5303520"/>
            <a:ext cx="5440680" cy="621792"/>
          </a:xfrm>
          <a:prstGeom prst="roundRect">
            <a:avLst>
              <a:gd name="adj" fmla="val 2000"/>
            </a:avLst>
          </a:prstGeom>
          <a:solidFill>
            <a:srgbClr val="101A18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72200" y="5440680"/>
            <a:ext cx="51663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</a:rPr>
              <a:t>Preserved local context + offline continuation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6126480"/>
            <a:ext cx="10789920" cy="50292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6199632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914D"/>
                </a:solidFill>
                <a:latin typeface="Segoe UI"/>
              </a:rPr>
              <a:t>Most tools connect devices. PocketOps is designed to preserve continuity between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PocketOps Turns Your Phone Into
a Continuity Workspace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474720" cy="274320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594360" cy="457200"/>
          </a:xfrm>
          <a:prstGeom prst="roundRect">
            <a:avLst>
              <a:gd name="adj" fmla="val 15000"/>
            </a:avLst>
          </a:prstGeom>
          <a:solidFill>
            <a:srgbClr val="FF5500"/>
          </a:solidFill>
          <a:ln w="1270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816352"/>
            <a:ext cx="5943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346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SESSION 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30175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Preserve important work context
before failure.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560320"/>
            <a:ext cx="3474720" cy="274320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63439" y="2788920"/>
            <a:ext cx="594360" cy="457200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2816352"/>
            <a:ext cx="5943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79" y="28346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OFFLINE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3566160"/>
            <a:ext cx="30175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Continue essential work using
synchronized files and local tools.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8" y="2560320"/>
            <a:ext cx="3474720" cy="274320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78" y="2788920"/>
            <a:ext cx="594360" cy="457200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8" y="2816352"/>
            <a:ext cx="5943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8" y="28346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INTELLIGENT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198" y="3566160"/>
            <a:ext cx="30175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Use local AI to assist workflows and
synchronize changes when the
primary device returns.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669280"/>
            <a:ext cx="10789920" cy="64008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806440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914D"/>
                </a:solidFill>
                <a:latin typeface="Segoe UI"/>
              </a:rPr>
              <a:t>The phone doesn’t replace the laptop. It keeps the work alive until the laptop is available again.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One Work Session. Four States.</a:t>
            </a:r>
          </a:p>
        </p:txBody>
      </p:sp>
      <p:sp>
        <p:nvSpPr>
          <p:cNvPr id="4" name="Oval 3"/>
          <p:cNvSpPr/>
          <p:nvPr/>
        </p:nvSpPr>
        <p:spPr>
          <a:xfrm>
            <a:off x="859917" y="1700784"/>
            <a:ext cx="1591533" cy="1524381"/>
          </a:xfrm>
          <a:prstGeom prst="ellipse">
            <a:avLst/>
          </a:prstGeom>
          <a:noFill/>
          <a:ln w="317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1929" y="1844040"/>
            <a:ext cx="1389888" cy="128016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000000"/>
                </a:solidFill>
                <a:latin typeface="Segoe UI"/>
              </a:rPr>
              <a:t>NORMAL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Laptop 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1488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4D399"/>
                </a:solidFill>
                <a:latin typeface="Segoe UI"/>
              </a:rPr>
              <a:t>→</a:t>
            </a:r>
          </a:p>
        </p:txBody>
      </p:sp>
      <p:sp>
        <p:nvSpPr>
          <p:cNvPr id="8" name="Oval 7"/>
          <p:cNvSpPr/>
          <p:nvPr/>
        </p:nvSpPr>
        <p:spPr>
          <a:xfrm>
            <a:off x="3860292" y="1700784"/>
            <a:ext cx="1499616" cy="1499616"/>
          </a:xfrm>
          <a:prstGeom prst="ellipse">
            <a:avLst/>
          </a:prstGeom>
          <a:noFill/>
          <a:ln w="317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69068" y="1802130"/>
            <a:ext cx="1280160" cy="128016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  <a:latin typeface="Segoe UI"/>
              </a:rPr>
              <a:t>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748" y="3296412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Laptop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1488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43F5E"/>
                </a:solidFill>
                <a:latin typeface="Segoe UI"/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6931533" y="1764411"/>
            <a:ext cx="1499616" cy="1499616"/>
          </a:xfrm>
          <a:prstGeom prst="ellipse">
            <a:avLst/>
          </a:prstGeom>
          <a:noFill/>
          <a:ln w="317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41261" y="1865186"/>
            <a:ext cx="1280160" cy="128016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  <a:latin typeface="Segoe UI"/>
              </a:rPr>
              <a:t>CONTINUE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7891" y="3337179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94A3B8"/>
                </a:solidFill>
                <a:latin typeface="Segoe UI"/>
              </a:rPr>
              <a:t>Phone Opens
Preserved Workspace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145792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5500"/>
                </a:solidFill>
                <a:latin typeface="Segoe UI"/>
              </a:rPr>
              <a:t>→</a:t>
            </a:r>
          </a:p>
        </p:txBody>
      </p:sp>
      <p:sp>
        <p:nvSpPr>
          <p:cNvPr id="16" name="Oval 15"/>
          <p:cNvSpPr/>
          <p:nvPr/>
        </p:nvSpPr>
        <p:spPr>
          <a:xfrm>
            <a:off x="10222992" y="1624584"/>
            <a:ext cx="1499616" cy="1499616"/>
          </a:xfrm>
          <a:prstGeom prst="ellipse">
            <a:avLst/>
          </a:prstGeom>
          <a:noFill/>
          <a:ln w="317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332720" y="1734312"/>
            <a:ext cx="1280160" cy="128016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  <a:latin typeface="Segoe UI"/>
              </a:rPr>
              <a:t>RESYNC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225165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94A3B8"/>
                </a:solidFill>
                <a:latin typeface="Segoe UI"/>
              </a:rPr>
              <a:t>Laptop Returns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2697480" cy="137160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2286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NORMAL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091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Important context is
synchronized.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206240"/>
            <a:ext cx="2697480" cy="137160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20440" y="4343400"/>
            <a:ext cx="2286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3F5E"/>
                </a:solidFill>
                <a:latin typeface="Segoe UI"/>
              </a:rPr>
              <a:t>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7091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PocketOps detects device
unavailability.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206240"/>
            <a:ext cx="2697480" cy="137160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4343400"/>
            <a:ext cx="2286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5500"/>
                </a:solidFill>
                <a:latin typeface="Segoe UI"/>
              </a:rPr>
              <a:t>CONTINUE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091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User continues essential
operations from the phone.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4206240"/>
            <a:ext cx="2697480" cy="137160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1160" y="4343400"/>
            <a:ext cx="2286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RESYNC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47091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Changes are reviewed
and synchronized.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71600" y="5852160"/>
            <a:ext cx="9418320" cy="59436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71600" y="5925312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NORMAL</a:t>
            </a:r>
            <a:r>
              <a:rPr sz="1400" b="1">
                <a:solidFill>
                  <a:srgbClr val="64748B"/>
                </a:solidFill>
                <a:latin typeface="Segoe UI"/>
              </a:rPr>
              <a:t>  →  </a:t>
            </a:r>
            <a:r>
              <a:rPr sz="1400" b="1">
                <a:solidFill>
                  <a:srgbClr val="F43F5E"/>
                </a:solidFill>
                <a:latin typeface="Segoe UI"/>
              </a:rPr>
              <a:t>FAILURE</a:t>
            </a:r>
            <a:r>
              <a:rPr sz="1400" b="1">
                <a:solidFill>
                  <a:srgbClr val="64748B"/>
                </a:solidFill>
                <a:latin typeface="Segoe UI"/>
              </a:rPr>
              <a:t>  →  </a:t>
            </a:r>
            <a:r>
              <a:rPr sz="1400" b="1">
                <a:solidFill>
                  <a:srgbClr val="FF5500"/>
                </a:solidFill>
                <a:latin typeface="Segoe UI"/>
              </a:rPr>
              <a:t>CONTINUE</a:t>
            </a:r>
            <a:r>
              <a:rPr sz="1400" b="1">
                <a:solidFill>
                  <a:srgbClr val="64748B"/>
                </a:solidFill>
                <a:latin typeface="Segoe UI"/>
              </a:rPr>
              <a:t>  →  </a:t>
            </a:r>
            <a:r>
              <a:rPr sz="1400" b="1">
                <a:solidFill>
                  <a:srgbClr val="22D3EE"/>
                </a:solidFill>
                <a:latin typeface="Segoe UI"/>
              </a:rPr>
              <a:t>RESYNC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WHAT WE HAVE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What We Have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438912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5500"/>
                </a:solidFill>
                <a:latin typeface="Segoe UI"/>
              </a:rPr>
              <a:t>CURRENT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(Implemented in Prototype)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Interactive continuity state machine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Laptop offline / failure simulation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Offline File Vault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Mobile code editor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Workflow engine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Camera verification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Diff / review interface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4-stage demo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5029200" cy="438912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78BFA"/>
                </a:solidFill>
                <a:latin typeface="Segoe UI"/>
              </a:rPr>
              <a:t>TARGET INTEGRATIONS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37744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(Roadmap)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Real laptop companion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Real device connectivity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On-device SLM / NPU inference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Secure device pairing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Real Git synchronization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Hardware-backed security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Advanced device telemetry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PROTOTYPE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8686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Prototype in Action — Visual Product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Live interactive application demonstrating the complete continuity sequence on mobile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868680"/>
            <a:ext cx="1828800" cy="41148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0" y="96012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⚡ FUNCTIONAL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737360"/>
            <a:ext cx="2066543" cy="4754880"/>
          </a:xfrm>
          <a:prstGeom prst="roundRect">
            <a:avLst>
              <a:gd name="adj" fmla="val 5000"/>
            </a:avLst>
          </a:prstGeom>
          <a:solidFill>
            <a:srgbClr val="0E111D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5800" y="1828800"/>
            <a:ext cx="1883663" cy="274320"/>
          </a:xfrm>
          <a:prstGeom prst="roundRect">
            <a:avLst>
              <a:gd name="adj" fmla="val 15000"/>
            </a:avLst>
          </a:prstGeom>
          <a:solidFill>
            <a:srgbClr val="34D399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874519"/>
            <a:ext cx="18836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Consolas"/>
              </a:rPr>
              <a:t>1. HOME</a:t>
            </a:r>
          </a:p>
        </p:txBody>
      </p:sp>
      <p:pic>
        <p:nvPicPr>
          <p:cNvPr id="12" name="Picture 11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1792223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99632"/>
            <a:ext cx="1975103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Mesh Protocol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3840480"/>
            <a:ext cx="14630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25495" y="1737360"/>
            <a:ext cx="2066543" cy="4754880"/>
          </a:xfrm>
          <a:prstGeom prst="roundRect">
            <a:avLst>
              <a:gd name="adj" fmla="val 5000"/>
            </a:avLst>
          </a:prstGeom>
          <a:solidFill>
            <a:srgbClr val="0E111D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16935" y="1828800"/>
            <a:ext cx="1883663" cy="274320"/>
          </a:xfrm>
          <a:prstGeom prst="roundRect">
            <a:avLst>
              <a:gd name="adj" fmla="val 15000"/>
            </a:avLst>
          </a:prstGeom>
          <a:solidFill>
            <a:srgbClr val="38BDF8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16935" y="1874519"/>
            <a:ext cx="18836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Consolas"/>
              </a:rPr>
              <a:t>2. CONNECTED</a:t>
            </a:r>
          </a:p>
        </p:txBody>
      </p:sp>
      <p:pic>
        <p:nvPicPr>
          <p:cNvPr id="18" name="Picture 17" descr="2_conn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5" y="2148840"/>
            <a:ext cx="1792223" cy="39776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871215" y="6199632"/>
            <a:ext cx="1975103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Host Telemetry Standby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6" y="3840480"/>
            <a:ext cx="14630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6630" y="1737360"/>
            <a:ext cx="2066543" cy="4754880"/>
          </a:xfrm>
          <a:prstGeom prst="roundRect">
            <a:avLst>
              <a:gd name="adj" fmla="val 5000"/>
            </a:avLst>
          </a:prstGeom>
          <a:solidFill>
            <a:srgbClr val="0E111D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148070" y="1828800"/>
            <a:ext cx="1883663" cy="274320"/>
          </a:xfrm>
          <a:prstGeom prst="roundRect">
            <a:avLst>
              <a:gd name="adj" fmla="val 15000"/>
            </a:avLst>
          </a:prstGeom>
          <a:solidFill>
            <a:srgbClr val="F43F5E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48070" y="1874519"/>
            <a:ext cx="18836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Consolas"/>
              </a:rPr>
              <a:t>3. BLACKOUT</a:t>
            </a:r>
          </a:p>
        </p:txBody>
      </p:sp>
      <p:pic>
        <p:nvPicPr>
          <p:cNvPr id="24" name="Picture 23" descr="3_off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790" y="2148840"/>
            <a:ext cx="1792223" cy="397763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02350" y="6199632"/>
            <a:ext cx="1975103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Hot-Standby Takeover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1461" y="3840480"/>
            <a:ext cx="14630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5" y="1737360"/>
            <a:ext cx="2066543" cy="4754880"/>
          </a:xfrm>
          <a:prstGeom prst="roundRect">
            <a:avLst>
              <a:gd name="adj" fmla="val 5000"/>
            </a:avLst>
          </a:prstGeom>
          <a:solidFill>
            <a:srgbClr val="0E111D"/>
          </a:solidFill>
          <a:ln w="1524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379205" y="1828800"/>
            <a:ext cx="1883663" cy="274320"/>
          </a:xfrm>
          <a:prstGeom prst="roundRect">
            <a:avLst>
              <a:gd name="adj" fmla="val 15000"/>
            </a:avLst>
          </a:prstGeom>
          <a:solidFill>
            <a:srgbClr val="FF5500"/>
          </a:solidFill>
          <a:ln w="1270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79205" y="1874519"/>
            <a:ext cx="18836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Consolas"/>
              </a:rPr>
              <a:t>4. VAULT</a:t>
            </a:r>
          </a:p>
        </p:txBody>
      </p:sp>
      <p:pic>
        <p:nvPicPr>
          <p:cNvPr id="30" name="Picture 29" descr="4_vau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5" y="2148840"/>
            <a:ext cx="1792223" cy="397763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33485" y="6199632"/>
            <a:ext cx="1975103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Predictive Offline 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596" y="3840480"/>
            <a:ext cx="14630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18900" y="1737360"/>
            <a:ext cx="2066543" cy="4754880"/>
          </a:xfrm>
          <a:prstGeom prst="roundRect">
            <a:avLst>
              <a:gd name="adj" fmla="val 5000"/>
            </a:avLst>
          </a:prstGeom>
          <a:solidFill>
            <a:srgbClr val="0E111D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610340" y="1828800"/>
            <a:ext cx="1883663" cy="274320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10340" y="1874519"/>
            <a:ext cx="18836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Consolas"/>
              </a:rPr>
              <a:t>5. RESYNC</a:t>
            </a:r>
          </a:p>
        </p:txBody>
      </p:sp>
      <p:pic>
        <p:nvPicPr>
          <p:cNvPr id="36" name="Picture 35" descr="5_resyn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0" y="2148840"/>
            <a:ext cx="1792223" cy="397763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564620" y="6199632"/>
            <a:ext cx="1975103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P2P Git Diff Merge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5500"/>
                </a:solidFill>
                <a:latin typeface="Segoe UI"/>
              </a:rPr>
              <a:t>DIFFERENTIATION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What Makes PocketOps Different?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155448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68680" y="2240280"/>
            <a:ext cx="45720" cy="109728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CONTINUITY-FIRST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8892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Not just file sharing or remote access.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5303520" cy="155448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46520" y="2240280"/>
            <a:ext cx="45720" cy="10972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0" y="22860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PHONE-FIRST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78892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The smartphone becomes an active workspace.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5303520" cy="155448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68680" y="4069080"/>
            <a:ext cx="45720" cy="10972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41148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LOCAL-FIRST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61772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Core offline workflows don’t require a cloud round trip.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840480"/>
            <a:ext cx="5303520" cy="155448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6520" y="4069080"/>
            <a:ext cx="45720" cy="10972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41148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RECOVERY-FIRST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61772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Designed around failure → continuation → resynchronization.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852160"/>
            <a:ext cx="10789920" cy="59436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961888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914D"/>
                </a:solidFill>
                <a:latin typeface="Segoe UI"/>
              </a:rPr>
              <a:t>We are not building another device-sync application. We are building a continuity layer between devices.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AI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AI That Plans. Software That Executes.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A deterministic pipeline where AI decomposes tasks and software validates and executes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286000"/>
            <a:ext cx="8503920" cy="566928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965960" y="2340864"/>
            <a:ext cx="411480" cy="41148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Emoji"/>
              </a:rPr>
              <a:t>🗣️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33172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User Intent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359152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Voice or text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78892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5500"/>
                </a:solidFill>
                <a:latin typeface="Segoe U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999232"/>
            <a:ext cx="8503920" cy="566928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965960" y="3054096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044952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Local / Open-Source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072384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On-device SLM decomposes the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502152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8BFA"/>
                </a:solidFill>
                <a:latin typeface="Segoe U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712464"/>
            <a:ext cx="8503920" cy="566928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965960" y="3767328"/>
            <a:ext cx="411480" cy="4114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Emoji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58184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Structured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85616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Discrete steps with dependencies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215384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425696"/>
            <a:ext cx="8503920" cy="566928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965960" y="4480560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Emoji"/>
              </a:rP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471416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Schema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JSON schema format &amp; safety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92861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5138928"/>
            <a:ext cx="8503920" cy="566928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965960" y="5193792"/>
            <a:ext cx="411480" cy="4114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Emoji"/>
              </a:rPr>
              <a:t>🛡️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18464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State &amp; Permission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1208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Verifies files, context &amp; permissions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64184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8BDF8"/>
                </a:solidFill>
                <a:latin typeface="Segoe UI"/>
              </a:rPr>
              <a:t>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852160"/>
            <a:ext cx="8503920" cy="566928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965960" y="5907024"/>
            <a:ext cx="411480" cy="41148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5897880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Deterministic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925312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Camera / code buffer / terminal ops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6172200"/>
            <a:ext cx="10789920" cy="54864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6263640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✅ AI plans. The workflow engine executes.  •  No cloud round trip for local workflows.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5500"/>
                </a:solidFill>
                <a:latin typeface="Segoe UI"/>
              </a:rPr>
              <a:t>WHY iQOO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Why iQOO?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103120"/>
            <a:ext cx="457200" cy="45720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116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23160"/>
            <a:ext cx="2423160" cy="960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High-performance mobile hardware can support demanding local 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38328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2000" y="2103120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116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EDGE AI &amp; NPU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423160"/>
            <a:ext cx="2423160" cy="960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Target architecture leverages Snapdragon NPU for on-device SLM execution (planned integration).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38328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0" y="210312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0116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CONNECTIVITY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423160"/>
            <a:ext cx="2423160" cy="960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Fast device connectivity enables rapid context synchronization.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3840480"/>
            <a:ext cx="338328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743200" y="41148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402336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PHONE-FIRST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4434840"/>
            <a:ext cx="2423160" cy="960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The smartphone becomes an active workspace rather than only a companion.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40480"/>
            <a:ext cx="338328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400800" y="411480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Emoji"/>
              </a:rPr>
              <a:t>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02336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CAMERA + SENSORS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434840"/>
            <a:ext cx="2423160" cy="960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The phone can support verification and physical-world workflows.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852160"/>
            <a:ext cx="10789920" cy="59436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961888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914D"/>
                </a:solidFill>
                <a:latin typeface="Segoe UI"/>
              </a:rPr>
              <a:t>Target architecture is designed to leverage Qualcomm Snapdragon NPU acceleration for local SLM tasks on iQOO flagships.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Who Needs PocketOps?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6032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554480" y="1947672"/>
            <a:ext cx="548640" cy="5486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DEVELOPERS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2377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Continue essential coding work during device failure.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783080"/>
            <a:ext cx="256032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389120" y="1947672"/>
            <a:ext cx="548640" cy="54864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 Emoji"/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0604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971800"/>
            <a:ext cx="2377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Protect assignments, projects and active 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783080"/>
            <a:ext cx="256032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223760" y="1947672"/>
            <a:ext cx="548640" cy="54864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 Emoji"/>
              </a:rPr>
              <a:t>🏗️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0604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FIELD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71800"/>
            <a:ext cx="2377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Continue essential operations when connectivity is unreliable.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783080"/>
            <a:ext cx="2560320" cy="1737360"/>
          </a:xfrm>
          <a:prstGeom prst="roundRect">
            <a:avLst/>
          </a:prstGeom>
          <a:solidFill>
            <a:srgbClr val="0E111D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058400" y="1947672"/>
            <a:ext cx="548640" cy="54864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 Emoji"/>
              </a:rPr>
              <a:t>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60604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PROFESSIONALS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971800"/>
            <a:ext cx="2377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Maintain critical work context while moving between devices.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794760"/>
            <a:ext cx="2560320" cy="640080"/>
          </a:xfrm>
          <a:prstGeom prst="roundRect">
            <a:avLst/>
          </a:prstGeom>
          <a:solidFill>
            <a:srgbClr val="0E111D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4D399"/>
                </a:solidFill>
                <a:latin typeface="Segoe UI"/>
              </a:rPr>
              <a:t>Less interruption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0" y="3794760"/>
            <a:ext cx="2560320" cy="640080"/>
          </a:xfrm>
          <a:prstGeom prst="roundRect">
            <a:avLst/>
          </a:prstGeom>
          <a:solidFill>
            <a:srgbClr val="0E111D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66160" y="39319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2D3EE"/>
                </a:solidFill>
                <a:latin typeface="Segoe UI"/>
              </a:rPr>
              <a:t>Less context loss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794760"/>
            <a:ext cx="2560320" cy="640080"/>
          </a:xfrm>
          <a:prstGeom prst="roundRect">
            <a:avLst/>
          </a:prstGeom>
          <a:solidFill>
            <a:srgbClr val="0E111D"/>
          </a:solidFill>
          <a:ln w="1270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9319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5500"/>
                </a:solidFill>
                <a:latin typeface="Segoe UI"/>
              </a:rPr>
              <a:t>Less connectivity dependency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3794760"/>
            <a:ext cx="2560320" cy="640080"/>
          </a:xfrm>
          <a:prstGeom prst="roundRect">
            <a:avLst/>
          </a:prstGeom>
          <a:solidFill>
            <a:srgbClr val="0E111D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35440" y="39319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78BFA"/>
                </a:solidFill>
                <a:latin typeface="Segoe UI"/>
              </a:rPr>
              <a:t>More resilient digital 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754880"/>
            <a:ext cx="10789920" cy="1371600"/>
          </a:xfrm>
          <a:prstGeom prst="roundRect">
            <a:avLst/>
          </a:prstGeom>
          <a:solidFill>
            <a:srgbClr val="121626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05840" y="4983480"/>
            <a:ext cx="45720" cy="914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234440" y="498348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PocketOps reduces the cost of interruption by keeping work context
available when the primary device is unavailable.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62356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Protecting productivity across unexpected shutdowns, battery dropouts, and travel disconnections.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OFFICE KIT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85800"/>
            <a:ext cx="411480" cy="320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PocketOps + Office Kit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828800"/>
            <a:ext cx="2286000" cy="109728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5500"/>
                </a:solidFill>
                <a:latin typeface="Segoe UI"/>
              </a:rPr>
              <a:t>📱  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057400"/>
            <a:ext cx="731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4748B"/>
                </a:solidFill>
                <a:latin typeface="Segoe UI"/>
              </a:rPr>
              <a:t>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828800"/>
            <a:ext cx="2743200" cy="109728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05740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8BDF8"/>
                </a:solidFill>
                <a:latin typeface="Segoe UI"/>
              </a:rPr>
              <a:t>🔗  OFFICE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057400"/>
            <a:ext cx="731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4748B"/>
                </a:solidFill>
                <a:latin typeface="Segoe UI"/>
              </a:rPr>
              <a:t>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828800"/>
            <a:ext cx="2560320" cy="1097280"/>
          </a:xfrm>
          <a:prstGeom prst="roundRect">
            <a:avLst/>
          </a:prstGeom>
          <a:solidFill>
            <a:srgbClr val="0E111D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0" y="2057400"/>
            <a:ext cx="2560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💻  LAPTOP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4D399"/>
                </a:solidFill>
                <a:latin typeface="Segoe UI"/>
              </a:rPr>
              <a:t>Supported / Prototype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31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File transfer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Clipboard transfer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Screen interaction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Device connection 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78BFA"/>
                </a:solidFill>
                <a:latin typeface="Segoe UI"/>
              </a:rPr>
              <a:t>Planned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931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Remote control (where supported)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Full bidirectional clipboard sync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Cross-device virtual display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  ▸  </a:t>
            </a:r>
            <a:r>
              <a:rPr sz="1300" b="0">
                <a:solidFill>
                  <a:srgbClr val="F1F5F9"/>
                </a:solidFill>
                <a:latin typeface="Segoe UI"/>
              </a:rPr>
              <a:t>Deep Office Kit API integration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10789920" cy="594360"/>
          </a:xfrm>
          <a:prstGeom prst="roundRect">
            <a:avLst/>
          </a:prstGeom>
          <a:solidFill>
            <a:srgbClr val="121626"/>
          </a:solidFill>
          <a:ln w="1016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961888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Items marked “Planned Integration” are on our roadmap but not yet demonstrated in the current prototype.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394960" y="1097280"/>
            <a:ext cx="1371600" cy="1371600"/>
          </a:xfrm>
          <a:prstGeom prst="ellipse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400" b="1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651760"/>
            <a:ext cx="85039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PocketOps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503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D3EE"/>
                </a:solidFill>
                <a:latin typeface="Segoe UI"/>
              </a:rPr>
              <a:t>When One Device Fails, Your Work Should Never Have to Stop.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297680"/>
            <a:ext cx="2011680" cy="548640"/>
          </a:xfrm>
          <a:prstGeom prst="roundRect">
            <a:avLst>
              <a:gd name="adj" fmla="val 15000"/>
            </a:avLst>
          </a:prstGeom>
          <a:solidFill>
            <a:srgbClr val="FF5500"/>
          </a:solidFill>
          <a:ln w="1270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PRESERVE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343400"/>
            <a:ext cx="365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4297680"/>
            <a:ext cx="2011680" cy="548640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31920" y="4389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CONTINUE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343400"/>
            <a:ext cx="365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4297680"/>
            <a:ext cx="2011680" cy="548640"/>
          </a:xfrm>
          <a:prstGeom prst="roundRect">
            <a:avLst>
              <a:gd name="adj" fmla="val 15000"/>
            </a:avLst>
          </a:prstGeom>
          <a:solidFill>
            <a:srgbClr val="34D399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4389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RECOVER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43400"/>
            <a:ext cx="365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4297680"/>
            <a:ext cx="2011680" cy="548640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4389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RESYNC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20640"/>
            <a:ext cx="3474720" cy="777240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93792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5500"/>
                </a:solidFill>
                <a:latin typeface="Segoe UI"/>
              </a:rPr>
              <a:t>SESSION CONTINUITY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04688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Preserve important work context.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5120640"/>
            <a:ext cx="3474720" cy="777240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39" y="5193792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OFFLINE VAULT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39" y="5504688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Continue with synchronized files.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598" y="5120640"/>
            <a:ext cx="3474720" cy="777240"/>
          </a:xfrm>
          <a:prstGeom prst="roundRect">
            <a:avLst/>
          </a:prstGeom>
          <a:solidFill>
            <a:srgbClr val="0E111D"/>
          </a:solidFill>
          <a:ln w="1016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78" y="5193792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LOCAL-FIRST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5504688"/>
            <a:ext cx="31089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Assist workflows without cloud dependency.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Turning the smartphone from a companion device into a continuity workspace.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979</Words>
  <Application>Microsoft Office PowerPoint</Application>
  <PresentationFormat>Widescreen</PresentationFormat>
  <Paragraphs>225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Consolas</vt:lpstr>
      <vt:lpstr>Segoe UI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25B11CS381</cp:lastModifiedBy>
  <cp:revision>1</cp:revision>
  <dcterms:created xsi:type="dcterms:W3CDTF">2013-01-27T09:14:16Z</dcterms:created>
  <dcterms:modified xsi:type="dcterms:W3CDTF">2026-10-05T08:36:53Z</dcterms:modified>
  <cp:category/>
</cp:coreProperties>
</file>